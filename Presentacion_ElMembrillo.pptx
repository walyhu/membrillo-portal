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9" d="100"/>
          <a:sy n="99" d="100"/>
        </p:scale>
        <p:origin x="108" y="3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17769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kern="0" spc="600" dirty="0">
                <a:solidFill>
                  <a:srgbClr val="D4A5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JALEAS ARTESANALES S.A.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288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de Continuidad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822960" y="260604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— El Membrillo</a:t>
            </a:r>
            <a:endParaRPr lang="en-US" sz="5400" dirty="0"/>
          </a:p>
        </p:txBody>
      </p:sp>
      <p:sp>
        <p:nvSpPr>
          <p:cNvPr id="6" name="Shape 4"/>
          <p:cNvSpPr/>
          <p:nvPr/>
        </p:nvSpPr>
        <p:spPr>
          <a:xfrm>
            <a:off x="822960" y="3703320"/>
            <a:ext cx="1097280" cy="457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7" name="Text 5"/>
          <p:cNvSpPr/>
          <p:nvPr/>
        </p:nvSpPr>
        <p:spPr>
          <a:xfrm>
            <a:off x="822960" y="3886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de ventas en línea — del cierre pandémico a la reactivación digital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029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ANTE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22960" y="52852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Junta Directiva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960" y="5623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Lic. Lorena Guzmán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943600" y="50292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kern="0" spc="4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PRESENTADO POR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943600" y="528523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Gerencia de Sistemas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562356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1D5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2026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golpe de la pandemia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657600" cy="310896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48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868680" y="38862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caída en ventas durante los primeros 3 meses de pandemia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389120" y="1874520"/>
            <a:ext cx="3657600" cy="310896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214884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38912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7200" dirty="0"/>
          </a:p>
        </p:txBody>
      </p:sp>
      <p:sp>
        <p:nvSpPr>
          <p:cNvPr id="11" name="Text 7"/>
          <p:cNvSpPr/>
          <p:nvPr/>
        </p:nvSpPr>
        <p:spPr>
          <a:xfrm>
            <a:off x="4709160" y="38862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presencia digital al inicio de la crisis sanitaria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8229600" y="1874520"/>
            <a:ext cx="3657600" cy="310896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9640" y="214884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229600" y="269748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7200" dirty="0"/>
          </a:p>
        </p:txBody>
      </p:sp>
      <p:sp>
        <p:nvSpPr>
          <p:cNvPr id="15" name="Text 10"/>
          <p:cNvSpPr/>
          <p:nvPr/>
        </p:nvSpPr>
        <p:spPr>
          <a:xfrm>
            <a:off x="8549640" y="388620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sucursales aisladas por restricciones de movilidad</a:t>
            </a:r>
            <a:endParaRPr lang="en-US" sz="1400" dirty="0"/>
          </a:p>
        </p:txBody>
      </p:sp>
      <p:sp>
        <p:nvSpPr>
          <p:cNvPr id="16" name="Text 11"/>
          <p:cNvSpPr/>
          <p:nvPr/>
        </p:nvSpPr>
        <p:spPr>
          <a:xfrm>
            <a:off x="548640" y="53492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vendedores no pueden visitar clientes. Los clientes no pueden movilizarse entre departamentos. El canal directo, durante 40 años nuestra fortaleza, hoy es el cuello de botella.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8" name="Text 13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reto de la Lic. Guzmán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6916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109728" cy="169164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116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54480" y="2011680"/>
            <a:ext cx="9784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200" i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meses está totalmente fuera de la realidad de la empresa. Necesito una alternativa alcanzable, ya.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554480" y="3017520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Lic. Lorena Guzmán, Junta Directiva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debía cumplir 5 restricciones definidas y entrar en operación en cuestión de días.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4206240"/>
            <a:ext cx="2103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Text 8"/>
          <p:cNvSpPr/>
          <p:nvPr/>
        </p:nvSpPr>
        <p:spPr>
          <a:xfrm>
            <a:off x="68580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800" dirty="0"/>
          </a:p>
        </p:txBody>
      </p:sp>
      <p:sp>
        <p:nvSpPr>
          <p:cNvPr id="12" name="Text 9"/>
          <p:cNvSpPr/>
          <p:nvPr/>
        </p:nvSpPr>
        <p:spPr>
          <a:xfrm>
            <a:off x="68580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programar desde cero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8580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vibe-coding, low-code o plataformas establecidas.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2788920" y="4206240"/>
            <a:ext cx="2103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5" name="Text 12"/>
          <p:cNvSpPr/>
          <p:nvPr/>
        </p:nvSpPr>
        <p:spPr>
          <a:xfrm>
            <a:off x="292608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800" dirty="0"/>
          </a:p>
        </p:txBody>
      </p:sp>
      <p:sp>
        <p:nvSpPr>
          <p:cNvPr id="16" name="Text 13"/>
          <p:cNvSpPr/>
          <p:nvPr/>
        </p:nvSpPr>
        <p:spPr>
          <a:xfrm>
            <a:off x="292608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Modelar el módulo de ventas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292608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Tipos, productos, clientes y facturación.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029200" y="4206240"/>
            <a:ext cx="2103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9" name="Text 16"/>
          <p:cNvSpPr/>
          <p:nvPr/>
        </p:nvSpPr>
        <p:spPr>
          <a:xfrm>
            <a:off x="516636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800" dirty="0"/>
          </a:p>
        </p:txBody>
      </p:sp>
      <p:sp>
        <p:nvSpPr>
          <p:cNvPr id="20" name="Text 17"/>
          <p:cNvSpPr/>
          <p:nvPr/>
        </p:nvSpPr>
        <p:spPr>
          <a:xfrm>
            <a:off x="516636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tiempo real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516636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portal debe interactuar con el modelo y reflejar existencias al instante.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7269480" y="4206240"/>
            <a:ext cx="2103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3" name="Text 20"/>
          <p:cNvSpPr/>
          <p:nvPr/>
        </p:nvSpPr>
        <p:spPr>
          <a:xfrm>
            <a:off x="740664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2800" dirty="0"/>
          </a:p>
        </p:txBody>
      </p:sp>
      <p:sp>
        <p:nvSpPr>
          <p:cNvPr id="24" name="Text 21"/>
          <p:cNvSpPr/>
          <p:nvPr/>
        </p:nvSpPr>
        <p:spPr>
          <a:xfrm>
            <a:off x="740664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 11 abril 2026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0664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extensiones. Cronograma estricto.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9509760" y="4206240"/>
            <a:ext cx="21031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7" name="Text 24"/>
          <p:cNvSpPr/>
          <p:nvPr/>
        </p:nvSpPr>
        <p:spPr>
          <a:xfrm>
            <a:off x="9646920" y="42976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9646920" y="480060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Presentación + propuesta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9646920" y="53492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Defensa ante la junta directiva (8 puntos de zona).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1" name="Text 28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portal real, en días, con costo cercano a cero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un portal con catálogo, carrito, facturación y stock en tiempo real, sobre una plataforma propia que respeta las cinco restricciones del caso.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2697480" cy="3291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Shape 4"/>
          <p:cNvSpPr/>
          <p:nvPr/>
        </p:nvSpPr>
        <p:spPr>
          <a:xfrm>
            <a:off x="1531620" y="301752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4500" y="32004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39319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4617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Productos, precios y existencias siempre visibles para el cliente.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83280" y="2743200"/>
            <a:ext cx="2697480" cy="3291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Shape 8"/>
          <p:cNvSpPr/>
          <p:nvPr/>
        </p:nvSpPr>
        <p:spPr>
          <a:xfrm>
            <a:off x="4366260" y="301752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9140" y="32004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520440" y="39319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y Factura PDF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566160" y="4617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 simple y comprobante descargable al instante.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217920" y="2743200"/>
            <a:ext cx="2697480" cy="3291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Shape 12"/>
          <p:cNvSpPr/>
          <p:nvPr/>
        </p:nvSpPr>
        <p:spPr>
          <a:xfrm>
            <a:off x="7200900" y="301752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3780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355080" y="39319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en vivo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6400800" y="4617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sucursales sincronizadas y reflejadas en tiempo real.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9052560" y="2743200"/>
            <a:ext cx="2697480" cy="329184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1" name="Shape 16"/>
          <p:cNvSpPr/>
          <p:nvPr/>
        </p:nvSpPr>
        <p:spPr>
          <a:xfrm>
            <a:off x="10035540" y="301752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18420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189720" y="3931920"/>
            <a:ext cx="2423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escalar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9235440" y="461772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paquete corre en cualquier hosting profesional.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6" name="Text 20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 simple, robusta y portable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0040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60604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55448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 Web/Móvil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55448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y carrito en navegador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840480" y="3314700"/>
            <a:ext cx="475488" cy="457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Shape 6"/>
          <p:cNvSpPr/>
          <p:nvPr/>
        </p:nvSpPr>
        <p:spPr>
          <a:xfrm rot="5400000">
            <a:off x="4279392" y="3218688"/>
            <a:ext cx="228600" cy="237744"/>
          </a:xfrm>
          <a:prstGeom prst="triangl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0" name="Text 7"/>
          <p:cNvSpPr/>
          <p:nvPr/>
        </p:nvSpPr>
        <p:spPr>
          <a:xfrm>
            <a:off x="3840480" y="2880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480560" y="2377440"/>
            <a:ext cx="320040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606040"/>
            <a:ext cx="502920" cy="50292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9496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FastAPI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539496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Backend, lógica y plantillas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680960" y="3314700"/>
            <a:ext cx="475488" cy="457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Shape 12"/>
          <p:cNvSpPr/>
          <p:nvPr/>
        </p:nvSpPr>
        <p:spPr>
          <a:xfrm rot="5400000">
            <a:off x="8119872" y="3218688"/>
            <a:ext cx="228600" cy="237744"/>
          </a:xfrm>
          <a:prstGeom prst="triangl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7" name="Text 13"/>
          <p:cNvSpPr/>
          <p:nvPr/>
        </p:nvSpPr>
        <p:spPr>
          <a:xfrm>
            <a:off x="7680960" y="28803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8321040" y="2377440"/>
            <a:ext cx="3200400" cy="1920240"/>
          </a:xfrm>
          <a:prstGeom prst="rect">
            <a:avLst/>
          </a:prstGeom>
          <a:solidFill>
            <a:srgbClr val="FFFFFF"/>
          </a:solidFill>
          <a:ln w="254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5360" y="2606040"/>
            <a:ext cx="502920" cy="50292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9235440" y="25603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MySQL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235440" y="297180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ventas (7 tablas)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480560" y="4572000"/>
            <a:ext cx="320040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54880" y="4800600"/>
            <a:ext cx="411480" cy="41148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349240" y="473659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de stock en vivo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5349240" y="5029200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Server-Sent Events: el inventario se actualiza sin recargar.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6057900" y="4297680"/>
            <a:ext cx="45720" cy="2286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7" name="Shape 21"/>
          <p:cNvSpPr/>
          <p:nvPr/>
        </p:nvSpPr>
        <p:spPr>
          <a:xfrm rot="10800000">
            <a:off x="5961888" y="4498848"/>
            <a:ext cx="237744" cy="146304"/>
          </a:xfrm>
          <a:prstGeom prst="triangl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8" name="Text 22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 la infraestructura levanta con un solo comando (Docker). El mismo paquete corre en la laptop del piloto y en producción real, sin reescribir.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0" name="Text 24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31" name="Text 25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&amp; JUSTIFICACIÓN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stack — visión ejecutiva (1/2)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56616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943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ejecutiva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FastAPI (Python)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del portal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 concepto a producción en días. Framework consolidado, miles de empresas lo usan; documentación automática para auditoría.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de datos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Estándar de industria, gratuito, portable a cualquier hosting sin reescribir si las ventas en línea crecen.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Docker Compose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Empaquetado y despliegue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sola instrucción levanta todo el sistema. Reduce riesgos en demo y migración a casi cero.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SQLAlchemy (ORM)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a datos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Aísla la lógica del motor de base de datos. Cambiar mañana de proveedor no implica reescribir el código.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943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Jinja2 + Bootstrap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Interfaz visual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Diseño profesional y responsivo desde el día uno. Sin diseñador dedicado ni costos de licencias.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decisiones que reducen tiempo, costo y riesgo desde la primera semana.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4" name="Text 4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TECNOLOGÍA &amp; JUSTIFICACIÓN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stack — visión ejecutiva (2/2)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200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Tecnología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Razón ejecutiva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Server-Sent Events (SSE)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Stock en tiempo real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 la restricción crítica del caso. Operación más simple y barata que las alternativas, sin servidores adicionales.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ReportLab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 en PDF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Comprobante profesional al cierre de cada compra, sin servicios externos ni costos por documento generado.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ngrok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Acceso público inmediato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Demo desde cualquier red sin contratar hosting. Costo cero durante la fase piloto.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Vibe-coding asistido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Metodología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Cumple la restricción "no desde cero". Construcción guiada por IA sobre frameworks maduros: pasamos de 6 meses a días.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49240"/>
            <a:ext cx="11064240" cy="1051560"/>
          </a:xfrm>
          <a:prstGeom prst="rect">
            <a:avLst/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Text 3"/>
          <p:cNvSpPr/>
          <p:nvPr/>
        </p:nvSpPr>
        <p:spPr>
          <a:xfrm>
            <a:off x="777240" y="544068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NO Shopify, Wix o WooCommerce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77240" y="574243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 válidos para catálogos genéricos, pero el caso exige modelo de datos propio (restricción 2) y stock en vivo entre las 6 sucursales (restricción 3). Estas plataformas no resuelven eso sin planes superiores y plugins. Nuestra solución da control total y costo cero.</a:t>
            </a:r>
            <a:endParaRPr lang="en-US" sz="1100" dirty="0"/>
          </a:p>
        </p:txBody>
      </p:sp>
      <p:sp>
        <p:nvSpPr>
          <p:cNvPr id="4" name="Shape 5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9" name="Text 6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datos del módulo de ventas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Siete tablas que cumplen y extienden la restricción 2 del caso. Toda la operación del portal se origina y termina en este modelo.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7" name="Text 5"/>
          <p:cNvSpPr/>
          <p:nvPr/>
        </p:nvSpPr>
        <p:spPr>
          <a:xfrm>
            <a:off x="73152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tipo_producto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Categorías: jalea, mermelada, conserva, almíbar.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242316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0" name="Shape 8"/>
          <p:cNvSpPr/>
          <p:nvPr/>
        </p:nvSpPr>
        <p:spPr>
          <a:xfrm>
            <a:off x="3383280" y="242316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356616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66160" y="2971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con precio unitario y existencias base.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42316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4" name="Shape 12"/>
          <p:cNvSpPr/>
          <p:nvPr/>
        </p:nvSpPr>
        <p:spPr>
          <a:xfrm>
            <a:off x="6217920" y="242316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5" name="Text 13"/>
          <p:cNvSpPr/>
          <p:nvPr/>
        </p:nvSpPr>
        <p:spPr>
          <a:xfrm>
            <a:off x="640080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sucursal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2971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sucursales del caso.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052560" y="242316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8" name="Shape 16"/>
          <p:cNvSpPr/>
          <p:nvPr/>
        </p:nvSpPr>
        <p:spPr>
          <a:xfrm>
            <a:off x="9052560" y="242316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9" name="Text 17"/>
          <p:cNvSpPr/>
          <p:nvPr/>
        </p:nvSpPr>
        <p:spPr>
          <a:xfrm>
            <a:off x="9235440" y="25603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stock_sucursal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235440" y="297180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Existencias por producto y sucursal (matriz 7×6).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1874520" y="397764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2" name="Shape 20"/>
          <p:cNvSpPr/>
          <p:nvPr/>
        </p:nvSpPr>
        <p:spPr>
          <a:xfrm>
            <a:off x="1874520" y="397764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3" name="Text 21"/>
          <p:cNvSpPr/>
          <p:nvPr/>
        </p:nvSpPr>
        <p:spPr>
          <a:xfrm>
            <a:off x="2057400" y="4114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cliente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057400" y="4526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del comprador para emitir factura.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09160" y="397764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6" name="Shape 24"/>
          <p:cNvSpPr/>
          <p:nvPr/>
        </p:nvSpPr>
        <p:spPr>
          <a:xfrm>
            <a:off x="4709160" y="397764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7" name="Text 25"/>
          <p:cNvSpPr/>
          <p:nvPr/>
        </p:nvSpPr>
        <p:spPr>
          <a:xfrm>
            <a:off x="4892040" y="4114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factura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892040" y="4526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Encabezado de cada venta (fecha, total, sucursal).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543800" y="3977640"/>
            <a:ext cx="2743200" cy="1417320"/>
          </a:xfrm>
          <a:prstGeom prst="rect">
            <a:avLst/>
          </a:prstGeom>
          <a:solidFill>
            <a:srgbClr val="F3F4F6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0" name="Shape 28"/>
          <p:cNvSpPr/>
          <p:nvPr/>
        </p:nvSpPr>
        <p:spPr>
          <a:xfrm>
            <a:off x="7543800" y="3977640"/>
            <a:ext cx="73152" cy="14173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1" name="Text 29"/>
          <p:cNvSpPr/>
          <p:nvPr/>
        </p:nvSpPr>
        <p:spPr>
          <a:xfrm>
            <a:off x="7726680" y="411480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8B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detalle_factura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7726680" y="4526280"/>
            <a:ext cx="2468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Líneas: productos y cantidades por factura.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fuente única de verdad: catálogo, inventario y facturación viven en el mismo esquema.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5" name="Text 33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verán hoy en pantalla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5" name="Shape 3"/>
          <p:cNvSpPr/>
          <p:nvPr/>
        </p:nvSpPr>
        <p:spPr>
          <a:xfrm>
            <a:off x="731520" y="210312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Text 4"/>
          <p:cNvSpPr/>
          <p:nvPr/>
        </p:nvSpPr>
        <p:spPr>
          <a:xfrm>
            <a:off x="73152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600200" y="20574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público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600200" y="24688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Productos con stock visible y filtros por tipo y sucursal.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172200" y="182880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0" name="Shape 8"/>
          <p:cNvSpPr/>
          <p:nvPr/>
        </p:nvSpPr>
        <p:spPr>
          <a:xfrm>
            <a:off x="6355080" y="210312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1" name="Text 9"/>
          <p:cNvSpPr/>
          <p:nvPr/>
        </p:nvSpPr>
        <p:spPr>
          <a:xfrm>
            <a:off x="6355080" y="21031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223760" y="20574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del producto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223760" y="246888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Disponibilidad en cada una de las 6 sucursales.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24612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5" name="Shape 13"/>
          <p:cNvSpPr/>
          <p:nvPr/>
        </p:nvSpPr>
        <p:spPr>
          <a:xfrm>
            <a:off x="731520" y="352044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16" name="Text 14"/>
          <p:cNvSpPr/>
          <p:nvPr/>
        </p:nvSpPr>
        <p:spPr>
          <a:xfrm>
            <a:off x="731520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600200" y="34747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Carrito de compra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600200" y="38862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 sucursal y resumen del pedido.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172200" y="324612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0" name="Shape 18"/>
          <p:cNvSpPr/>
          <p:nvPr/>
        </p:nvSpPr>
        <p:spPr>
          <a:xfrm>
            <a:off x="6355080" y="352044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1" name="Text 19"/>
          <p:cNvSpPr/>
          <p:nvPr/>
        </p:nvSpPr>
        <p:spPr>
          <a:xfrm>
            <a:off x="6355080" y="35204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223760" y="347472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Factura PDF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223760" y="388620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 y descarga inmediata del comprobante.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466344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5" name="Shape 23"/>
          <p:cNvSpPr/>
          <p:nvPr/>
        </p:nvSpPr>
        <p:spPr>
          <a:xfrm>
            <a:off x="731520" y="493776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6" name="Text 24"/>
          <p:cNvSpPr/>
          <p:nvPr/>
        </p:nvSpPr>
        <p:spPr>
          <a:xfrm>
            <a:off x="731520" y="4937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00200" y="4892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Panel de administración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600200" y="53035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Ajuste de inventario en tiempo real.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172200" y="4663440"/>
            <a:ext cx="544068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0" name="Shape 28"/>
          <p:cNvSpPr/>
          <p:nvPr/>
        </p:nvSpPr>
        <p:spPr>
          <a:xfrm>
            <a:off x="6355080" y="4937760"/>
            <a:ext cx="731520" cy="731520"/>
          </a:xfrm>
          <a:prstGeom prst="ellipse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1" name="Text 29"/>
          <p:cNvSpPr/>
          <p:nvPr/>
        </p:nvSpPr>
        <p:spPr>
          <a:xfrm>
            <a:off x="6355080" y="49377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7223760" y="489204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Simulador de ventas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223760" y="5303520"/>
            <a:ext cx="4297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stock baja en pantalla, en vivo, sin recargar.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608076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paso 6 es el factor diferenciador: demuestra el cumplimiento de la restricción de stock en tiempo real.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36" name="Text 34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kern="0" spc="4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TIEMPO · COSTO · RIESGO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Comparación: propuesta original vs. solución entregada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3017520"/>
        </p:xfrm>
        <a:graphic>
          <a:graphicData uri="http://schemas.openxmlformats.org/drawingml/2006/table">
            <a:tbl>
              <a:tblPr/>
              <a:tblGrid>
                <a:gridCol w="32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206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Criterio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Propuesta original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Solución entregada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B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Tiempo de implementación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meses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Costo de infraestructura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 dedicado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USD 0 durante el piloto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 (equipo dedicado)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 (un archivo de configuración)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Riesgo de retraso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Bajo: componentes maduros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1182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Migración a producción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Reescritura completa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0478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Mismo paquete, cualquier hosting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6" name="Text 3"/>
          <p:cNvSpPr/>
          <p:nvPr/>
        </p:nvSpPr>
        <p:spPr>
          <a:xfrm>
            <a:off x="548640" y="5440680"/>
            <a:ext cx="110642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Misma meta. Una fracción del tiempo. Una fracción del costo.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8" name="Text 5"/>
          <p:cNvSpPr/>
          <p:nvPr/>
        </p:nvSpPr>
        <p:spPr>
          <a:xfrm>
            <a:off x="411480" y="6537960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Membrillo  ·  Jaleas Artesanales S.A.  ·  Plan de Continuidad Digital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29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8B0000"/>
          </a:solidFill>
          <a:ln w="1270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s-GT"/>
          </a:p>
        </p:txBody>
      </p:sp>
      <p:sp>
        <p:nvSpPr>
          <p:cNvPr id="28" name="Text 26"/>
          <p:cNvSpPr/>
          <p:nvPr/>
        </p:nvSpPr>
        <p:spPr>
          <a:xfrm>
            <a:off x="10607040" y="65379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11</a:t>
            </a:r>
            <a:endParaRPr lang="en-US" sz="900" dirty="0"/>
          </a:p>
        </p:txBody>
      </p:sp>
      <p:sp>
        <p:nvSpPr>
          <p:cNvPr id="50" name="Label"/>
          <p:cNvSpPr/>
          <p:nvPr/>
        </p:nvSpPr>
        <p:spPr>
          <a:xfrm>
            <a:off x="825500" y="508000"/>
            <a:ext cx="109728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200" b="1" kern="0" spc="500" dirty="0">
                <a:solidFill>
                  <a:srgbClr val="D4A574"/>
                </a:solidFill>
                <a:latin typeface="Calibri" pitchFamily="34" charset="0"/>
              </a:rPr>
              <a:t>CRONOGRAMA DE IMPLEMENTACIÓN</a:t>
            </a:r>
          </a:p>
        </p:txBody>
      </p:sp>
      <p:sp>
        <p:nvSpPr>
          <p:cNvPr id="51" name="Title"/>
          <p:cNvSpPr/>
          <p:nvPr/>
        </p:nvSpPr>
        <p:spPr>
          <a:xfrm>
            <a:off x="825500" y="787400"/>
            <a:ext cx="109728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3200" b="1" dirty="0">
                <a:solidFill>
                  <a:srgbClr val="FFFFFF"/>
                </a:solidFill>
                <a:latin typeface="Calibri" pitchFamily="34" charset="0"/>
              </a:rPr>
              <a:t>De cero a producción en 12 días con vibe coding</a:t>
            </a:r>
          </a:p>
        </p:txBody>
      </p:sp>
      <p:sp>
        <p:nvSpPr>
          <p:cNvPr id="52" name="BarBg"/>
          <p:cNvSpPr/>
          <p:nvPr/>
        </p:nvSpPr>
        <p:spPr>
          <a:xfrm>
            <a:off x="825500" y="1841500"/>
            <a:ext cx="10604500" cy="76200"/>
          </a:xfrm>
          <a:prstGeom prst="roundRect">
            <a:avLst>
              <a:gd name="adj" fmla="val 50000"/>
            </a:avLst>
          </a:prstGeom>
          <a:solidFill>
            <a:srgbClr val="2A2A2E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53" name="BarFill"/>
          <p:cNvSpPr/>
          <p:nvPr/>
        </p:nvSpPr>
        <p:spPr>
          <a:xfrm>
            <a:off x="825500" y="1841500"/>
            <a:ext cx="10604500" cy="76200"/>
          </a:xfrm>
          <a:prstGeom prst="roundRect">
            <a:avLst>
              <a:gd name="adj" fmla="val 50000"/>
            </a:avLst>
          </a:prstGeom>
          <a:gradFill>
            <a:gsLst>
              <a:gs pos="0">
                <a:srgbClr val="D4A574"/>
              </a:gs>
              <a:gs pos="100000">
                <a:srgbClr val="845542"/>
              </a:gs>
            </a:gsLst>
            <a:lin ang="0" scaled="1"/>
          </a:gra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0" name="Dot0"/>
          <p:cNvSpPr/>
          <p:nvPr/>
        </p:nvSpPr>
        <p:spPr>
          <a:xfrm>
            <a:off x="1645708" y="1816100"/>
            <a:ext cx="127000" cy="127000"/>
          </a:xfrm>
          <a:prstGeom prst="ellipse">
            <a:avLst/>
          </a:prstGeom>
          <a:solidFill>
            <a:srgbClr val="D4A574"/>
          </a:solidFill>
          <a:ln w="19050">
            <a:solidFill>
              <a:srgbClr val="1A1A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61" name="Dot1"/>
          <p:cNvSpPr/>
          <p:nvPr/>
        </p:nvSpPr>
        <p:spPr>
          <a:xfrm>
            <a:off x="3413125" y="1816100"/>
            <a:ext cx="127000" cy="127000"/>
          </a:xfrm>
          <a:prstGeom prst="ellipse">
            <a:avLst/>
          </a:prstGeom>
          <a:solidFill>
            <a:srgbClr val="C4956A"/>
          </a:solidFill>
          <a:ln w="19050">
            <a:solidFill>
              <a:srgbClr val="1A1A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62" name="Dot2"/>
          <p:cNvSpPr/>
          <p:nvPr/>
        </p:nvSpPr>
        <p:spPr>
          <a:xfrm>
            <a:off x="5180542" y="1816100"/>
            <a:ext cx="127000" cy="127000"/>
          </a:xfrm>
          <a:prstGeom prst="ellipse">
            <a:avLst/>
          </a:prstGeom>
          <a:solidFill>
            <a:srgbClr val="B48560"/>
          </a:solidFill>
          <a:ln w="19050">
            <a:solidFill>
              <a:srgbClr val="1A1A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63" name="Dot3"/>
          <p:cNvSpPr/>
          <p:nvPr/>
        </p:nvSpPr>
        <p:spPr>
          <a:xfrm>
            <a:off x="6947958" y="1816100"/>
            <a:ext cx="127000" cy="127000"/>
          </a:xfrm>
          <a:prstGeom prst="ellipse">
            <a:avLst/>
          </a:prstGeom>
          <a:solidFill>
            <a:srgbClr val="A47556"/>
          </a:solidFill>
          <a:ln w="19050">
            <a:solidFill>
              <a:srgbClr val="1A1A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64" name="Dot4"/>
          <p:cNvSpPr/>
          <p:nvPr/>
        </p:nvSpPr>
        <p:spPr>
          <a:xfrm>
            <a:off x="8715375" y="1816100"/>
            <a:ext cx="127000" cy="127000"/>
          </a:xfrm>
          <a:prstGeom prst="ellipse">
            <a:avLst/>
          </a:prstGeom>
          <a:solidFill>
            <a:srgbClr val="94654C"/>
          </a:solidFill>
          <a:ln w="19050">
            <a:solidFill>
              <a:srgbClr val="1A1A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65" name="Dot5"/>
          <p:cNvSpPr/>
          <p:nvPr/>
        </p:nvSpPr>
        <p:spPr>
          <a:xfrm>
            <a:off x="10482792" y="1816100"/>
            <a:ext cx="127000" cy="127000"/>
          </a:xfrm>
          <a:prstGeom prst="ellipse">
            <a:avLst/>
          </a:prstGeom>
          <a:solidFill>
            <a:srgbClr val="845542"/>
          </a:solidFill>
          <a:ln w="19050">
            <a:solidFill>
              <a:srgbClr val="1A1A1E"/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70" name="Card0"/>
          <p:cNvSpPr/>
          <p:nvPr/>
        </p:nvSpPr>
        <p:spPr>
          <a:xfrm>
            <a:off x="889000" y="2159000"/>
            <a:ext cx="1638300" cy="2222500"/>
          </a:xfrm>
          <a:prstGeom prst="roundRect">
            <a:avLst>
              <a:gd name="adj" fmla="val 8000"/>
            </a:avLst>
          </a:prstGeom>
          <a:solidFill>
            <a:srgbClr val="252529"/>
          </a:solidFill>
          <a:ln w="6350">
            <a:solidFill>
              <a:srgbClr val="D4A574">
                <a:alpha val="40000"/>
              </a:srgbClr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71" name="Day0"/>
          <p:cNvSpPr/>
          <p:nvPr/>
        </p:nvSpPr>
        <p:spPr>
          <a:xfrm>
            <a:off x="1016000" y="2311400"/>
            <a:ext cx="1384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100" b="1" dirty="0">
                <a:solidFill>
                  <a:srgbClr val="D4A574"/>
                </a:solidFill>
                <a:latin typeface="Calibri" pitchFamily="34" charset="0"/>
              </a:rPr>
              <a:t>Día 1-2</a:t>
            </a:r>
          </a:p>
        </p:txBody>
      </p:sp>
      <p:sp>
        <p:nvSpPr>
          <p:cNvPr id="72" name="Line0"/>
          <p:cNvSpPr/>
          <p:nvPr/>
        </p:nvSpPr>
        <p:spPr>
          <a:xfrm>
            <a:off x="1016000" y="2641600"/>
            <a:ext cx="381000" cy="25400"/>
          </a:xfrm>
          <a:prstGeom prst="rect">
            <a:avLst/>
          </a:prstGeom>
          <a:solidFill>
            <a:srgbClr val="D4A574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73" name="PTitle0"/>
          <p:cNvSpPr/>
          <p:nvPr/>
        </p:nvSpPr>
        <p:spPr>
          <a:xfrm>
            <a:off x="1016000" y="2743200"/>
            <a:ext cx="13843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FFFFFF"/>
                </a:solidFill>
                <a:latin typeface="Calibri" pitchFamily="34" charset="0"/>
              </a:rPr>
              <a:t>Setup &amp; Catálogo</a:t>
            </a:r>
          </a:p>
        </p:txBody>
      </p:sp>
      <p:sp>
        <p:nvSpPr>
          <p:cNvPr id="74" name="Desc0"/>
          <p:cNvSpPr/>
          <p:nvPr/>
        </p:nvSpPr>
        <p:spPr>
          <a:xfrm>
            <a:off x="1016000" y="3302000"/>
            <a:ext cx="13843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000" dirty="0">
                <a:solidFill>
                  <a:srgbClr val="D1D5DB"/>
                </a:solidFill>
                <a:latin typeface="Calibri" pitchFamily="34" charset="0"/>
              </a:rPr>
              <a:t>Estructura del proyecto, base de datos, catálogo de productos con fotos y precios.</a:t>
            </a:r>
          </a:p>
        </p:txBody>
      </p:sp>
      <p:sp>
        <p:nvSpPr>
          <p:cNvPr id="80" name="Card1"/>
          <p:cNvSpPr/>
          <p:nvPr/>
        </p:nvSpPr>
        <p:spPr>
          <a:xfrm>
            <a:off x="2656417" y="2159000"/>
            <a:ext cx="1638300" cy="2222500"/>
          </a:xfrm>
          <a:prstGeom prst="roundRect">
            <a:avLst>
              <a:gd name="adj" fmla="val 8000"/>
            </a:avLst>
          </a:prstGeom>
          <a:solidFill>
            <a:srgbClr val="252529"/>
          </a:solidFill>
          <a:ln w="6350">
            <a:solidFill>
              <a:srgbClr val="C4956A">
                <a:alpha val="40000"/>
              </a:srgbClr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81" name="Day1"/>
          <p:cNvSpPr/>
          <p:nvPr/>
        </p:nvSpPr>
        <p:spPr>
          <a:xfrm>
            <a:off x="2783417" y="2311400"/>
            <a:ext cx="1384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100" b="1" dirty="0">
                <a:solidFill>
                  <a:srgbClr val="C4956A"/>
                </a:solidFill>
                <a:latin typeface="Calibri" pitchFamily="34" charset="0"/>
              </a:rPr>
              <a:t>Día 3-4</a:t>
            </a:r>
          </a:p>
        </p:txBody>
      </p:sp>
      <p:sp>
        <p:nvSpPr>
          <p:cNvPr id="82" name="Line1"/>
          <p:cNvSpPr/>
          <p:nvPr/>
        </p:nvSpPr>
        <p:spPr>
          <a:xfrm>
            <a:off x="2783417" y="2641600"/>
            <a:ext cx="381000" cy="25400"/>
          </a:xfrm>
          <a:prstGeom prst="rect">
            <a:avLst/>
          </a:prstGeom>
          <a:solidFill>
            <a:srgbClr val="C4956A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83" name="PTitle1"/>
          <p:cNvSpPr/>
          <p:nvPr/>
        </p:nvSpPr>
        <p:spPr>
          <a:xfrm>
            <a:off x="2783417" y="2743200"/>
            <a:ext cx="13843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FFFFFF"/>
                </a:solidFill>
                <a:latin typeface="Calibri" pitchFamily="34" charset="0"/>
              </a:rPr>
              <a:t>Carrito &amp; Checkout</a:t>
            </a:r>
          </a:p>
        </p:txBody>
      </p:sp>
      <p:sp>
        <p:nvSpPr>
          <p:cNvPr id="84" name="Desc1"/>
          <p:cNvSpPr/>
          <p:nvPr/>
        </p:nvSpPr>
        <p:spPr>
          <a:xfrm>
            <a:off x="2783417" y="3302000"/>
            <a:ext cx="13843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000" dirty="0">
                <a:solidFill>
                  <a:srgbClr val="D1D5DB"/>
                </a:solidFill>
                <a:latin typeface="Calibri" pitchFamily="34" charset="0"/>
              </a:rPr>
              <a:t>Carrito de compras, formulario de pedido, cálculo de totales automático.</a:t>
            </a:r>
          </a:p>
        </p:txBody>
      </p:sp>
      <p:sp>
        <p:nvSpPr>
          <p:cNvPr id="90" name="Card2"/>
          <p:cNvSpPr/>
          <p:nvPr/>
        </p:nvSpPr>
        <p:spPr>
          <a:xfrm>
            <a:off x="4423833" y="2159000"/>
            <a:ext cx="1638300" cy="2222500"/>
          </a:xfrm>
          <a:prstGeom prst="roundRect">
            <a:avLst>
              <a:gd name="adj" fmla="val 8000"/>
            </a:avLst>
          </a:prstGeom>
          <a:solidFill>
            <a:srgbClr val="252529"/>
          </a:solidFill>
          <a:ln w="6350">
            <a:solidFill>
              <a:srgbClr val="B48560">
                <a:alpha val="40000"/>
              </a:srgbClr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91" name="Day2"/>
          <p:cNvSpPr/>
          <p:nvPr/>
        </p:nvSpPr>
        <p:spPr>
          <a:xfrm>
            <a:off x="4550833" y="2311400"/>
            <a:ext cx="1384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100" b="1" dirty="0">
                <a:solidFill>
                  <a:srgbClr val="B48560"/>
                </a:solidFill>
                <a:latin typeface="Calibri" pitchFamily="34" charset="0"/>
              </a:rPr>
              <a:t>Día 5-6</a:t>
            </a:r>
          </a:p>
        </p:txBody>
      </p:sp>
      <p:sp>
        <p:nvSpPr>
          <p:cNvPr id="92" name="Line2"/>
          <p:cNvSpPr/>
          <p:nvPr/>
        </p:nvSpPr>
        <p:spPr>
          <a:xfrm>
            <a:off x="4550833" y="2641600"/>
            <a:ext cx="381000" cy="25400"/>
          </a:xfrm>
          <a:prstGeom prst="rect">
            <a:avLst/>
          </a:prstGeom>
          <a:solidFill>
            <a:srgbClr val="B48560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93" name="PTitle2"/>
          <p:cNvSpPr/>
          <p:nvPr/>
        </p:nvSpPr>
        <p:spPr>
          <a:xfrm>
            <a:off x="4550833" y="2743200"/>
            <a:ext cx="13843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FFFFFF"/>
                </a:solidFill>
                <a:latin typeface="Calibri" pitchFamily="34" charset="0"/>
              </a:rPr>
              <a:t>Pagos &amp; Factura</a:t>
            </a:r>
          </a:p>
        </p:txBody>
      </p:sp>
      <p:sp>
        <p:nvSpPr>
          <p:cNvPr id="94" name="Desc2"/>
          <p:cNvSpPr/>
          <p:nvPr/>
        </p:nvSpPr>
        <p:spPr>
          <a:xfrm>
            <a:off x="4550833" y="3302000"/>
            <a:ext cx="13843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000" dirty="0">
                <a:solidFill>
                  <a:srgbClr val="D1D5DB"/>
                </a:solidFill>
                <a:latin typeface="Calibri" pitchFamily="34" charset="0"/>
              </a:rPr>
              <a:t>Integración pasarela de pagos, generación de factura PDF, confirmación por email.</a:t>
            </a:r>
          </a:p>
        </p:txBody>
      </p:sp>
      <p:sp>
        <p:nvSpPr>
          <p:cNvPr id="100" name="Card3"/>
          <p:cNvSpPr/>
          <p:nvPr/>
        </p:nvSpPr>
        <p:spPr>
          <a:xfrm>
            <a:off x="6191250" y="2159000"/>
            <a:ext cx="1638300" cy="2222500"/>
          </a:xfrm>
          <a:prstGeom prst="roundRect">
            <a:avLst>
              <a:gd name="adj" fmla="val 8000"/>
            </a:avLst>
          </a:prstGeom>
          <a:solidFill>
            <a:srgbClr val="252529"/>
          </a:solidFill>
          <a:ln w="6350">
            <a:solidFill>
              <a:srgbClr val="A47556">
                <a:alpha val="40000"/>
              </a:srgbClr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01" name="Day3"/>
          <p:cNvSpPr/>
          <p:nvPr/>
        </p:nvSpPr>
        <p:spPr>
          <a:xfrm>
            <a:off x="6318250" y="2311400"/>
            <a:ext cx="1384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100" b="1" dirty="0">
                <a:solidFill>
                  <a:srgbClr val="A47556"/>
                </a:solidFill>
                <a:latin typeface="Calibri" pitchFamily="34" charset="0"/>
              </a:rPr>
              <a:t>Día 7-8</a:t>
            </a:r>
          </a:p>
        </p:txBody>
      </p:sp>
      <p:sp>
        <p:nvSpPr>
          <p:cNvPr id="102" name="Line3"/>
          <p:cNvSpPr/>
          <p:nvPr/>
        </p:nvSpPr>
        <p:spPr>
          <a:xfrm>
            <a:off x="6318250" y="2641600"/>
            <a:ext cx="381000" cy="25400"/>
          </a:xfrm>
          <a:prstGeom prst="rect">
            <a:avLst/>
          </a:prstGeom>
          <a:solidFill>
            <a:srgbClr val="A47556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03" name="PTitle3"/>
          <p:cNvSpPr/>
          <p:nvPr/>
        </p:nvSpPr>
        <p:spPr>
          <a:xfrm>
            <a:off x="6318250" y="2743200"/>
            <a:ext cx="13843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FFFFFF"/>
                </a:solidFill>
                <a:latin typeface="Calibri" pitchFamily="34" charset="0"/>
              </a:rPr>
              <a:t>Panel Admin</a:t>
            </a:r>
          </a:p>
        </p:txBody>
      </p:sp>
      <p:sp>
        <p:nvSpPr>
          <p:cNvPr id="104" name="Desc3"/>
          <p:cNvSpPr/>
          <p:nvPr/>
        </p:nvSpPr>
        <p:spPr>
          <a:xfrm>
            <a:off x="6318250" y="3302000"/>
            <a:ext cx="13843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000" dirty="0">
                <a:solidFill>
                  <a:srgbClr val="D1D5DB"/>
                </a:solidFill>
                <a:latin typeface="Calibri" pitchFamily="34" charset="0"/>
              </a:rPr>
              <a:t>Dashboard de pedidos, gestión de inventario en vivo, control de stock.</a:t>
            </a:r>
          </a:p>
        </p:txBody>
      </p:sp>
      <p:sp>
        <p:nvSpPr>
          <p:cNvPr id="110" name="Card4"/>
          <p:cNvSpPr/>
          <p:nvPr/>
        </p:nvSpPr>
        <p:spPr>
          <a:xfrm>
            <a:off x="7958667" y="2159000"/>
            <a:ext cx="1638300" cy="2222500"/>
          </a:xfrm>
          <a:prstGeom prst="roundRect">
            <a:avLst>
              <a:gd name="adj" fmla="val 8000"/>
            </a:avLst>
          </a:prstGeom>
          <a:solidFill>
            <a:srgbClr val="252529"/>
          </a:solidFill>
          <a:ln w="6350">
            <a:solidFill>
              <a:srgbClr val="94654C">
                <a:alpha val="40000"/>
              </a:srgbClr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11" name="Day4"/>
          <p:cNvSpPr/>
          <p:nvPr/>
        </p:nvSpPr>
        <p:spPr>
          <a:xfrm>
            <a:off x="8085667" y="2311400"/>
            <a:ext cx="1384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100" b="1" dirty="0">
                <a:solidFill>
                  <a:srgbClr val="94654C"/>
                </a:solidFill>
                <a:latin typeface="Calibri" pitchFamily="34" charset="0"/>
              </a:rPr>
              <a:t>Día 9-10</a:t>
            </a:r>
          </a:p>
        </p:txBody>
      </p:sp>
      <p:sp>
        <p:nvSpPr>
          <p:cNvPr id="112" name="Line4"/>
          <p:cNvSpPr/>
          <p:nvPr/>
        </p:nvSpPr>
        <p:spPr>
          <a:xfrm>
            <a:off x="8085667" y="2641600"/>
            <a:ext cx="381000" cy="25400"/>
          </a:xfrm>
          <a:prstGeom prst="rect">
            <a:avLst/>
          </a:prstGeom>
          <a:solidFill>
            <a:srgbClr val="94654C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13" name="PTitle4"/>
          <p:cNvSpPr/>
          <p:nvPr/>
        </p:nvSpPr>
        <p:spPr>
          <a:xfrm>
            <a:off x="8085667" y="2743200"/>
            <a:ext cx="13843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FFFFFF"/>
                </a:solidFill>
                <a:latin typeface="Calibri" pitchFamily="34" charset="0"/>
              </a:rPr>
              <a:t>Login &amp; Fidelidad</a:t>
            </a:r>
          </a:p>
        </p:txBody>
      </p:sp>
      <p:sp>
        <p:nvSpPr>
          <p:cNvPr id="114" name="Desc4"/>
          <p:cNvSpPr/>
          <p:nvPr/>
        </p:nvSpPr>
        <p:spPr>
          <a:xfrm>
            <a:off x="8085667" y="3302000"/>
            <a:ext cx="13843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000" dirty="0">
                <a:solidFill>
                  <a:srgbClr val="D1D5DB"/>
                </a:solidFill>
                <a:latin typeface="Calibri" pitchFamily="34" charset="0"/>
              </a:rPr>
              <a:t>Registro de clientes, historial de pedidos, programa de puntos y promociones.</a:t>
            </a:r>
          </a:p>
        </p:txBody>
      </p:sp>
      <p:sp>
        <p:nvSpPr>
          <p:cNvPr id="120" name="Card5"/>
          <p:cNvSpPr/>
          <p:nvPr/>
        </p:nvSpPr>
        <p:spPr>
          <a:xfrm>
            <a:off x="9726083" y="2159000"/>
            <a:ext cx="1638300" cy="2222500"/>
          </a:xfrm>
          <a:prstGeom prst="roundRect">
            <a:avLst>
              <a:gd name="adj" fmla="val 8000"/>
            </a:avLst>
          </a:prstGeom>
          <a:solidFill>
            <a:srgbClr val="252529"/>
          </a:solidFill>
          <a:ln w="6350">
            <a:solidFill>
              <a:srgbClr val="845542">
                <a:alpha val="40000"/>
              </a:srgbClr>
            </a:solidFill>
          </a:ln>
        </p:spPr>
        <p:txBody>
          <a:bodyPr/>
          <a:lstStyle/>
          <a:p>
            <a:endParaRPr lang="es-ES"/>
          </a:p>
        </p:txBody>
      </p:sp>
      <p:sp>
        <p:nvSpPr>
          <p:cNvPr id="121" name="Day5"/>
          <p:cNvSpPr/>
          <p:nvPr/>
        </p:nvSpPr>
        <p:spPr>
          <a:xfrm>
            <a:off x="9853083" y="2311400"/>
            <a:ext cx="13843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100" b="1" dirty="0">
                <a:solidFill>
                  <a:srgbClr val="845542"/>
                </a:solidFill>
                <a:latin typeface="Calibri" pitchFamily="34" charset="0"/>
              </a:rPr>
              <a:t>Día 11-12</a:t>
            </a:r>
          </a:p>
        </p:txBody>
      </p:sp>
      <p:sp>
        <p:nvSpPr>
          <p:cNvPr id="122" name="Line5"/>
          <p:cNvSpPr/>
          <p:nvPr/>
        </p:nvSpPr>
        <p:spPr>
          <a:xfrm>
            <a:off x="9853083" y="2641600"/>
            <a:ext cx="381000" cy="25400"/>
          </a:xfrm>
          <a:prstGeom prst="rect">
            <a:avLst/>
          </a:prstGeom>
          <a:solidFill>
            <a:srgbClr val="845542"/>
          </a:solidFill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123" name="PTitle5"/>
          <p:cNvSpPr/>
          <p:nvPr/>
        </p:nvSpPr>
        <p:spPr>
          <a:xfrm>
            <a:off x="9853083" y="2743200"/>
            <a:ext cx="13843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FFFFFF"/>
                </a:solidFill>
                <a:latin typeface="Calibri" pitchFamily="34" charset="0"/>
              </a:rPr>
              <a:t>Deploy &amp; QA</a:t>
            </a:r>
          </a:p>
        </p:txBody>
      </p:sp>
      <p:sp>
        <p:nvSpPr>
          <p:cNvPr id="124" name="Desc5"/>
          <p:cNvSpPr/>
          <p:nvPr/>
        </p:nvSpPr>
        <p:spPr>
          <a:xfrm>
            <a:off x="9853083" y="3302000"/>
            <a:ext cx="1384300" cy="1016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000" dirty="0">
                <a:solidFill>
                  <a:srgbClr val="D1D5DB"/>
                </a:solidFill>
                <a:latin typeface="Calibri" pitchFamily="34" charset="0"/>
              </a:rPr>
              <a:t>Dominio propio, SSL, pruebas finales, capacitación del equipo, lanzamiento.</a:t>
            </a:r>
          </a:p>
        </p:txBody>
      </p:sp>
      <p:sp>
        <p:nvSpPr>
          <p:cNvPr id="140" name="Summary"/>
          <p:cNvSpPr/>
          <p:nvPr/>
        </p:nvSpPr>
        <p:spPr>
          <a:xfrm>
            <a:off x="825500" y="4699000"/>
            <a:ext cx="10604500" cy="317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lang="es-ES" sz="1400" b="1" dirty="0">
                <a:solidFill>
                  <a:srgbClr val="D4A574"/>
                </a:solidFill>
                <a:latin typeface="Calibri" pitchFamily="34" charset="0"/>
              </a:rPr>
              <a:t>Total: 12 días hábiles</a:t>
            </a:r>
            <a:r>
              <a:rPr lang="es-ES" sz="1400" dirty="0">
                <a:solidFill>
                  <a:srgbClr val="9CA3AF"/>
                </a:solidFill>
                <a:latin typeface="Calibri" pitchFamily="34" charset="0"/>
              </a:rPr>
              <a:t>  —  Desarrollo acelerado con IA generativa (vibe coding)</a:t>
            </a:r>
          </a:p>
        </p:txBody>
      </p:sp>
      <p:sp>
        <p:nvSpPr>
          <p:cNvPr id="141" name="Quote"/>
          <p:cNvSpPr/>
          <p:nvPr/>
        </p:nvSpPr>
        <p:spPr>
          <a:xfrm>
            <a:off x="825500" y="5207000"/>
            <a:ext cx="106045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lang="es-ES" sz="1600" i="1" dirty="0">
                <a:solidFill>
                  <a:srgbClr val="FFFFFF"/>
                </a:solidFill>
                <a:latin typeface="Calibri" pitchFamily="34" charset="0"/>
              </a:rPr>
              <a:t>"Cada fase se valida antes de avanzar — entregas visibles cada 48 horas."</a:t>
            </a:r>
          </a:p>
        </p:txBody>
      </p:sp>
      <p:sp>
        <p:nvSpPr>
          <p:cNvPr id="142" name="Gracias"/>
          <p:cNvSpPr/>
          <p:nvPr/>
        </p:nvSpPr>
        <p:spPr>
          <a:xfrm>
            <a:off x="825500" y="5905500"/>
            <a:ext cx="10604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lang="es-ES" sz="1800" b="1" dirty="0">
                <a:solidFill>
                  <a:srgbClr val="D4A574"/>
                </a:solidFill>
                <a:latin typeface="Calibri" pitchFamily="34" charset="0"/>
              </a:rPr>
              <a:t>Gracias.</a:t>
            </a:r>
          </a:p>
        </p:txBody>
      </p:sp>
      <p:sp>
        <p:nvSpPr>
          <p:cNvPr id="143" name="QA"/>
          <p:cNvSpPr/>
          <p:nvPr/>
        </p:nvSpPr>
        <p:spPr>
          <a:xfrm>
            <a:off x="825500" y="6261100"/>
            <a:ext cx="106045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marL="0" indent="0" algn="ctr">
              <a:buNone/>
            </a:pPr>
            <a:r>
              <a:rPr lang="es-ES" sz="1200" i="1" dirty="0">
                <a:solidFill>
                  <a:srgbClr val="9CA3AF"/>
                </a:solidFill>
                <a:latin typeface="Calibri" pitchFamily="34" charset="0"/>
              </a:rPr>
              <a:t>Preguntas y respuestas.</a:t>
            </a:r>
          </a:p>
        </p:txBody>
      </p:sp>
    </p:spTree>
    <p:extLst>
      <p:ext uri="{BB962C8B-B14F-4D97-AF65-F5344CB8AC3E}">
        <p14:creationId xmlns:p14="http://schemas.microsoft.com/office/powerpoint/2010/main" val="25675767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8E2230D-21A3-4CFC-B0A6-6BB5FE383EB8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6ea7967e-4c41-4309-bfaf-33ec15be9b7f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1363</Words>
  <Application>Microsoft Office PowerPoint</Application>
  <PresentationFormat>Panorámica</PresentationFormat>
  <Paragraphs>218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Calibri</vt:lpstr>
      <vt:lpstr>Consolas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 Membrillo — Plan de Continuidad Digital</dc:title>
  <dc:subject>PptxGenJS Presentation</dc:subject>
  <dc:creator>Gerencia de Sistemas</dc:creator>
  <cp:lastModifiedBy>Walter Gómez</cp:lastModifiedBy>
  <cp:revision>2</cp:revision>
  <dcterms:created xsi:type="dcterms:W3CDTF">2026-05-02T04:31:52Z</dcterms:created>
  <dcterms:modified xsi:type="dcterms:W3CDTF">2026-05-09T16:05:06Z</dcterms:modified>
</cp:coreProperties>
</file>